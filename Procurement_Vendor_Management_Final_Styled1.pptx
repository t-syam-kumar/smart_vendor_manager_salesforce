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66CC"/>
                </a:solidFill>
              </a:rPr>
              <a:t>Procurement and Vendor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dirty="0">
                <a:solidFill>
                  <a:srgbClr val="FF0000"/>
                </a:solidFill>
              </a:rPr>
              <a:t>Project Theme:</a:t>
            </a:r>
          </a:p>
          <a:p>
            <a:r>
              <a:rPr sz="2200" dirty="0">
                <a:solidFill>
                  <a:srgbClr val="333333"/>
                </a:solidFill>
              </a:rPr>
              <a:t>This system helps organizations manage the complete purchasing process, from raising a request to selecting a vendor and tracking delivery.</a:t>
            </a:r>
          </a:p>
          <a:p>
            <a:endParaRPr sz="2200" dirty="0">
              <a:solidFill>
                <a:srgbClr val="333333"/>
              </a:solidFill>
            </a:endParaRPr>
          </a:p>
          <a:p>
            <a:r>
              <a:rPr sz="2200" dirty="0">
                <a:solidFill>
                  <a:srgbClr val="FF0000"/>
                </a:solidFill>
              </a:rPr>
              <a:t>Example:</a:t>
            </a:r>
          </a:p>
          <a:p>
            <a:r>
              <a:rPr sz="2200" dirty="0">
                <a:solidFill>
                  <a:srgbClr val="333333"/>
                </a:solidFill>
              </a:rPr>
              <a:t>If the CSE HOD needs 30 computers for a new lab, the HOD raises a request, the Principal approves it, the Vendor Management Team collects quotations from vendors, the best vendor is selected, and the computers are delivered.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66CC"/>
                </a:solidFill>
              </a:rPr>
              <a:t>Salesforce Admin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333333"/>
                </a:solidFill>
              </a:rPr>
              <a:t>• Custom Objects</a:t>
            </a:r>
          </a:p>
          <a:p>
            <a:r>
              <a:rPr sz="2200">
                <a:solidFill>
                  <a:srgbClr val="333333"/>
                </a:solidFill>
              </a:rPr>
              <a:t>• Fields</a:t>
            </a:r>
          </a:p>
          <a:p>
            <a:r>
              <a:rPr sz="2200">
                <a:solidFill>
                  <a:srgbClr val="333333"/>
                </a:solidFill>
              </a:rPr>
              <a:t>• Relationships</a:t>
            </a:r>
          </a:p>
          <a:p>
            <a:r>
              <a:rPr sz="2200">
                <a:solidFill>
                  <a:srgbClr val="333333"/>
                </a:solidFill>
              </a:rPr>
              <a:t>• Approval Process</a:t>
            </a:r>
          </a:p>
          <a:p>
            <a:r>
              <a:rPr sz="2200">
                <a:solidFill>
                  <a:srgbClr val="333333"/>
                </a:solidFill>
              </a:rPr>
              <a:t>• Validation Rules</a:t>
            </a:r>
          </a:p>
          <a:p>
            <a:r>
              <a:rPr sz="2200">
                <a:solidFill>
                  <a:srgbClr val="333333"/>
                </a:solidFill>
              </a:rPr>
              <a:t>• Profiles &amp; Roles</a:t>
            </a:r>
          </a:p>
          <a:p>
            <a:r>
              <a:rPr sz="2200">
                <a:solidFill>
                  <a:srgbClr val="333333"/>
                </a:solidFill>
              </a:rPr>
              <a:t>• Reports</a:t>
            </a:r>
          </a:p>
          <a:p>
            <a:r>
              <a:rPr sz="2200">
                <a:solidFill>
                  <a:srgbClr val="333333"/>
                </a:solidFill>
              </a:rPr>
              <a:t>• Dashboards</a:t>
            </a:r>
          </a:p>
          <a:p>
            <a:r>
              <a:rPr sz="2200">
                <a:solidFill>
                  <a:srgbClr val="333333"/>
                </a:solidFill>
              </a:rPr>
              <a:t>• Email Alerts</a:t>
            </a:r>
          </a:p>
          <a:p>
            <a:r>
              <a:rPr sz="2200">
                <a:solidFill>
                  <a:srgbClr val="333333"/>
                </a:solidFill>
              </a:rPr>
              <a:t>• List Views</a:t>
            </a:r>
          </a:p>
          <a:p>
            <a:r>
              <a:rPr sz="2200">
                <a:solidFill>
                  <a:srgbClr val="333333"/>
                </a:solidFill>
              </a:rPr>
              <a:t>• 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66CC"/>
                </a:solidFill>
              </a:rPr>
              <a:t>Project Workflow and Concepts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2200" dirty="0">
                <a:solidFill>
                  <a:schemeClr val="accent3">
                    <a:lumMod val="75000"/>
                  </a:schemeClr>
                </a:solidFill>
              </a:rPr>
              <a:t>Step 1</a:t>
            </a:r>
            <a:r>
              <a:rPr sz="2200" dirty="0">
                <a:solidFill>
                  <a:srgbClr val="333333"/>
                </a:solidFill>
              </a:rPr>
              <a:t>: HOD Creates Purchase Request</a:t>
            </a:r>
          </a:p>
          <a:p>
            <a:r>
              <a:rPr sz="2200" dirty="0">
                <a:solidFill>
                  <a:schemeClr val="accent2">
                    <a:lumMod val="75000"/>
                  </a:schemeClr>
                </a:solidFill>
              </a:rPr>
              <a:t>Concepts Used</a:t>
            </a:r>
            <a:r>
              <a:rPr sz="2200" dirty="0">
                <a:solidFill>
                  <a:srgbClr val="333333"/>
                </a:solidFill>
              </a:rPr>
              <a:t>: Purchase Request Object, Fields, Page Layouts</a:t>
            </a:r>
          </a:p>
          <a:p>
            <a:endParaRPr sz="2200" dirty="0">
              <a:solidFill>
                <a:srgbClr val="333333"/>
              </a:solidFill>
            </a:endParaRPr>
          </a:p>
          <a:p>
            <a:r>
              <a:rPr sz="2200" dirty="0">
                <a:solidFill>
                  <a:schemeClr val="accent3">
                    <a:lumMod val="75000"/>
                  </a:schemeClr>
                </a:solidFill>
              </a:rPr>
              <a:t>Step 2</a:t>
            </a:r>
            <a:r>
              <a:rPr sz="2200" dirty="0">
                <a:solidFill>
                  <a:srgbClr val="333333"/>
                </a:solidFill>
              </a:rPr>
              <a:t>: Request Sent to Principal</a:t>
            </a:r>
          </a:p>
          <a:p>
            <a:r>
              <a:rPr sz="2200" dirty="0">
                <a:solidFill>
                  <a:schemeClr val="accent2">
                    <a:lumMod val="75000"/>
                  </a:schemeClr>
                </a:solidFill>
              </a:rPr>
              <a:t>Concepts Used</a:t>
            </a:r>
            <a:r>
              <a:rPr sz="2200" dirty="0">
                <a:solidFill>
                  <a:srgbClr val="333333"/>
                </a:solidFill>
              </a:rPr>
              <a:t>: Approval Process, Email Alerts, Roles</a:t>
            </a:r>
          </a:p>
          <a:p>
            <a:endParaRPr sz="2200" dirty="0">
              <a:solidFill>
                <a:srgbClr val="333333"/>
              </a:solidFill>
            </a:endParaRPr>
          </a:p>
          <a:p>
            <a:r>
              <a:rPr sz="2200" dirty="0">
                <a:solidFill>
                  <a:schemeClr val="accent3">
                    <a:lumMod val="75000"/>
                  </a:schemeClr>
                </a:solidFill>
              </a:rPr>
              <a:t>Step 3</a:t>
            </a:r>
            <a:r>
              <a:rPr sz="2200" dirty="0">
                <a:solidFill>
                  <a:srgbClr val="333333"/>
                </a:solidFill>
              </a:rPr>
              <a:t>: Principal Reviews Request</a:t>
            </a:r>
          </a:p>
          <a:p>
            <a:r>
              <a:rPr sz="2200" dirty="0">
                <a:solidFill>
                  <a:schemeClr val="accent2">
                    <a:lumMod val="75000"/>
                  </a:schemeClr>
                </a:solidFill>
              </a:rPr>
              <a:t>Concepts Used</a:t>
            </a:r>
            <a:r>
              <a:rPr sz="2200" dirty="0">
                <a:solidFill>
                  <a:srgbClr val="333333"/>
                </a:solidFill>
              </a:rPr>
              <a:t>: Approval Process, Validation Rules, Status Field</a:t>
            </a:r>
          </a:p>
          <a:p>
            <a:endParaRPr sz="2200" dirty="0">
              <a:solidFill>
                <a:srgbClr val="333333"/>
              </a:solidFill>
            </a:endParaRPr>
          </a:p>
          <a:p>
            <a:r>
              <a:rPr sz="2200" dirty="0">
                <a:solidFill>
                  <a:schemeClr val="accent3">
                    <a:lumMod val="75000"/>
                  </a:schemeClr>
                </a:solidFill>
              </a:rPr>
              <a:t>Step 4</a:t>
            </a:r>
            <a:r>
              <a:rPr sz="2200" dirty="0">
                <a:solidFill>
                  <a:srgbClr val="333333"/>
                </a:solidFill>
              </a:rPr>
              <a:t>: Vendor Team Receives Request</a:t>
            </a:r>
          </a:p>
          <a:p>
            <a:r>
              <a:rPr sz="2200" dirty="0">
                <a:solidFill>
                  <a:schemeClr val="accent2">
                    <a:lumMod val="75000"/>
                  </a:schemeClr>
                </a:solidFill>
              </a:rPr>
              <a:t>Concepts Used</a:t>
            </a:r>
            <a:r>
              <a:rPr sz="2200" dirty="0">
                <a:solidFill>
                  <a:srgbClr val="333333"/>
                </a:solidFill>
              </a:rPr>
              <a:t>: Profiles, Roles, Sharing Settings</a:t>
            </a:r>
          </a:p>
          <a:p>
            <a:endParaRPr sz="2200" dirty="0">
              <a:solidFill>
                <a:srgbClr val="333333"/>
              </a:solidFill>
            </a:endParaRPr>
          </a:p>
          <a:p>
            <a:r>
              <a:rPr sz="2200" dirty="0">
                <a:solidFill>
                  <a:schemeClr val="accent3">
                    <a:lumMod val="75000"/>
                  </a:schemeClr>
                </a:solidFill>
              </a:rPr>
              <a:t>Step 5</a:t>
            </a:r>
            <a:r>
              <a:rPr sz="2200" dirty="0">
                <a:solidFill>
                  <a:srgbClr val="333333"/>
                </a:solidFill>
              </a:rPr>
              <a:t>: Vendor Quotations</a:t>
            </a:r>
          </a:p>
          <a:p>
            <a:r>
              <a:rPr sz="2200" dirty="0">
                <a:solidFill>
                  <a:schemeClr val="accent2">
                    <a:lumMod val="75000"/>
                  </a:schemeClr>
                </a:solidFill>
              </a:rPr>
              <a:t>Concepts Used</a:t>
            </a:r>
            <a:r>
              <a:rPr sz="2200" dirty="0">
                <a:solidFill>
                  <a:srgbClr val="333333"/>
                </a:solidFill>
              </a:rPr>
              <a:t>: Vendor Object, Quotation Object, Relationships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66CC"/>
                </a:solidFill>
              </a:rPr>
              <a:t>Project Workflow and Concepts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dirty="0">
                <a:solidFill>
                  <a:schemeClr val="accent3">
                    <a:lumMod val="75000"/>
                  </a:schemeClr>
                </a:solidFill>
              </a:rPr>
              <a:t>Step 6</a:t>
            </a:r>
            <a:r>
              <a:rPr sz="2200" dirty="0">
                <a:solidFill>
                  <a:srgbClr val="333333"/>
                </a:solidFill>
              </a:rPr>
              <a:t>: Vendor Selection</a:t>
            </a:r>
          </a:p>
          <a:p>
            <a:r>
              <a:rPr sz="2200" dirty="0">
                <a:solidFill>
                  <a:schemeClr val="accent2">
                    <a:lumMod val="75000"/>
                  </a:schemeClr>
                </a:solidFill>
              </a:rPr>
              <a:t>Concepts Used</a:t>
            </a:r>
            <a:r>
              <a:rPr sz="2200" dirty="0">
                <a:solidFill>
                  <a:srgbClr val="333333"/>
                </a:solidFill>
              </a:rPr>
              <a:t>: Reports, List Views</a:t>
            </a:r>
          </a:p>
          <a:p>
            <a:endParaRPr sz="2200" dirty="0">
              <a:solidFill>
                <a:srgbClr val="333333"/>
              </a:solidFill>
            </a:endParaRPr>
          </a:p>
          <a:p>
            <a:r>
              <a:rPr sz="2200" dirty="0">
                <a:solidFill>
                  <a:schemeClr val="accent3">
                    <a:lumMod val="75000"/>
                  </a:schemeClr>
                </a:solidFill>
              </a:rPr>
              <a:t>Step 7</a:t>
            </a:r>
            <a:r>
              <a:rPr sz="2200" dirty="0">
                <a:solidFill>
                  <a:srgbClr val="333333"/>
                </a:solidFill>
              </a:rPr>
              <a:t>: Purchase Order Creation</a:t>
            </a:r>
          </a:p>
          <a:p>
            <a:r>
              <a:rPr sz="2200" dirty="0">
                <a:solidFill>
                  <a:schemeClr val="accent2">
                    <a:lumMod val="75000"/>
                  </a:schemeClr>
                </a:solidFill>
              </a:rPr>
              <a:t>Concepts Used</a:t>
            </a:r>
            <a:r>
              <a:rPr sz="2200" dirty="0">
                <a:solidFill>
                  <a:srgbClr val="333333"/>
                </a:solidFill>
              </a:rPr>
              <a:t>: Purchase Order Object, Validation Rules</a:t>
            </a:r>
          </a:p>
          <a:p>
            <a:endParaRPr sz="2200" dirty="0">
              <a:solidFill>
                <a:srgbClr val="333333"/>
              </a:solidFill>
            </a:endParaRPr>
          </a:p>
          <a:p>
            <a:r>
              <a:rPr sz="2200" dirty="0">
                <a:solidFill>
                  <a:schemeClr val="accent3">
                    <a:lumMod val="75000"/>
                  </a:schemeClr>
                </a:solidFill>
              </a:rPr>
              <a:t>Step 8</a:t>
            </a:r>
            <a:r>
              <a:rPr sz="2200" dirty="0">
                <a:solidFill>
                  <a:srgbClr val="333333"/>
                </a:solidFill>
              </a:rPr>
              <a:t>: Delivery Tracking</a:t>
            </a:r>
          </a:p>
          <a:p>
            <a:r>
              <a:rPr sz="2200" dirty="0">
                <a:solidFill>
                  <a:schemeClr val="accent2">
                    <a:lumMod val="75000"/>
                  </a:schemeClr>
                </a:solidFill>
              </a:rPr>
              <a:t>Concepts Used</a:t>
            </a:r>
            <a:r>
              <a:rPr sz="2200" dirty="0">
                <a:solidFill>
                  <a:srgbClr val="333333"/>
                </a:solidFill>
              </a:rPr>
              <a:t>: Reports, Dashboards</a:t>
            </a:r>
          </a:p>
          <a:p>
            <a:endParaRPr sz="2200" dirty="0">
              <a:solidFill>
                <a:srgbClr val="333333"/>
              </a:solidFill>
            </a:endParaRPr>
          </a:p>
          <a:p>
            <a:r>
              <a:rPr sz="2200" dirty="0">
                <a:solidFill>
                  <a:schemeClr val="accent3">
                    <a:lumMod val="75000"/>
                  </a:schemeClr>
                </a:solidFill>
              </a:rPr>
              <a:t>Step 9</a:t>
            </a:r>
            <a:r>
              <a:rPr sz="2200" dirty="0">
                <a:solidFill>
                  <a:srgbClr val="333333"/>
                </a:solidFill>
              </a:rPr>
              <a:t>: Request Closed</a:t>
            </a:r>
          </a:p>
          <a:p>
            <a:r>
              <a:rPr sz="2200" dirty="0">
                <a:solidFill>
                  <a:schemeClr val="accent2">
                    <a:lumMod val="75000"/>
                  </a:schemeClr>
                </a:solidFill>
              </a:rPr>
              <a:t>Concepts Used</a:t>
            </a:r>
            <a:r>
              <a:rPr sz="2200" dirty="0">
                <a:solidFill>
                  <a:srgbClr val="333333"/>
                </a:solidFill>
              </a:rPr>
              <a:t>: Status Updates,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0066CC"/>
                </a:solidFill>
              </a:rPr>
              <a:t>Complete Process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Autofit/>
          </a:bodyPr>
          <a:lstStyle/>
          <a:p>
            <a:r>
              <a:rPr sz="1800" dirty="0">
                <a:solidFill>
                  <a:srgbClr val="333333"/>
                </a:solidFill>
              </a:rPr>
              <a:t>HOD Creates Request</a:t>
            </a:r>
          </a:p>
          <a:p>
            <a:r>
              <a:rPr sz="1800" dirty="0">
                <a:solidFill>
                  <a:srgbClr val="333333"/>
                </a:solidFill>
              </a:rPr>
              <a:t>↓</a:t>
            </a:r>
          </a:p>
          <a:p>
            <a:r>
              <a:rPr sz="1800" dirty="0">
                <a:solidFill>
                  <a:srgbClr val="333333"/>
                </a:solidFill>
              </a:rPr>
              <a:t>Principal Approval</a:t>
            </a:r>
          </a:p>
          <a:p>
            <a:r>
              <a:rPr sz="1800" dirty="0">
                <a:solidFill>
                  <a:srgbClr val="333333"/>
                </a:solidFill>
              </a:rPr>
              <a:t>↓</a:t>
            </a:r>
          </a:p>
          <a:p>
            <a:r>
              <a:rPr sz="1800" dirty="0">
                <a:solidFill>
                  <a:srgbClr val="333333"/>
                </a:solidFill>
              </a:rPr>
              <a:t>Vendor Management Team Receives Request</a:t>
            </a:r>
          </a:p>
          <a:p>
            <a:r>
              <a:rPr sz="1800" dirty="0">
                <a:solidFill>
                  <a:srgbClr val="333333"/>
                </a:solidFill>
              </a:rPr>
              <a:t>↓</a:t>
            </a:r>
          </a:p>
          <a:p>
            <a:r>
              <a:rPr sz="1800" dirty="0">
                <a:solidFill>
                  <a:srgbClr val="333333"/>
                </a:solidFill>
              </a:rPr>
              <a:t>Collect Vendor Quotations</a:t>
            </a:r>
          </a:p>
          <a:p>
            <a:r>
              <a:rPr sz="1800" dirty="0">
                <a:solidFill>
                  <a:srgbClr val="333333"/>
                </a:solidFill>
              </a:rPr>
              <a:t>↓</a:t>
            </a:r>
          </a:p>
          <a:p>
            <a:r>
              <a:rPr sz="1800" dirty="0">
                <a:solidFill>
                  <a:srgbClr val="333333"/>
                </a:solidFill>
              </a:rPr>
              <a:t>Vendor Shortlisting &amp; Selection</a:t>
            </a:r>
          </a:p>
          <a:p>
            <a:r>
              <a:rPr sz="1800" dirty="0">
                <a:solidFill>
                  <a:srgbClr val="333333"/>
                </a:solidFill>
              </a:rPr>
              <a:t>↓</a:t>
            </a:r>
          </a:p>
          <a:p>
            <a:r>
              <a:rPr sz="1800" dirty="0">
                <a:solidFill>
                  <a:srgbClr val="333333"/>
                </a:solidFill>
              </a:rPr>
              <a:t>Purchase Order Creation</a:t>
            </a:r>
          </a:p>
          <a:p>
            <a:r>
              <a:rPr sz="1800" dirty="0">
                <a:solidFill>
                  <a:srgbClr val="333333"/>
                </a:solidFill>
              </a:rPr>
              <a:t>↓</a:t>
            </a:r>
          </a:p>
          <a:p>
            <a:r>
              <a:rPr sz="1800" dirty="0">
                <a:solidFill>
                  <a:srgbClr val="333333"/>
                </a:solidFill>
              </a:rPr>
              <a:t>Delivery Tracking</a:t>
            </a:r>
          </a:p>
          <a:p>
            <a:r>
              <a:rPr sz="1800" dirty="0">
                <a:solidFill>
                  <a:srgbClr val="333333"/>
                </a:solidFill>
              </a:rPr>
              <a:t>↓</a:t>
            </a:r>
          </a:p>
          <a:p>
            <a:r>
              <a:rPr sz="1800" dirty="0">
                <a:solidFill>
                  <a:srgbClr val="333333"/>
                </a:solidFill>
              </a:rPr>
              <a:t>Request Closed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AA4F6-EB51-2F38-124D-9490809F6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51" y="2399071"/>
            <a:ext cx="5584723" cy="182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600" dirty="0">
                <a:solidFill>
                  <a:srgbClr val="00B050"/>
                </a:solidFill>
              </a:rPr>
              <a:t>Thank You</a:t>
            </a:r>
            <a:endParaRPr lang="en-IN" sz="96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66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294</Words>
  <Application>Microsoft Office PowerPoint</Application>
  <PresentationFormat>On-screen Show (4:3)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Procurement and Vendor Management System</vt:lpstr>
      <vt:lpstr>Salesforce Admin Concepts Used</vt:lpstr>
      <vt:lpstr>Project Workflow and Concepts (Part 1)</vt:lpstr>
      <vt:lpstr>Project Workflow and Concepts (Part 2)</vt:lpstr>
      <vt:lpstr>Complete Process Workflow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VARMA</dc:creator>
  <cp:keywords/>
  <dc:description>generated using python-pptx</dc:description>
  <cp:lastModifiedBy>nvpoornachandravarma@outlook.com</cp:lastModifiedBy>
  <cp:revision>2</cp:revision>
  <dcterms:created xsi:type="dcterms:W3CDTF">2013-01-27T09:14:16Z</dcterms:created>
  <dcterms:modified xsi:type="dcterms:W3CDTF">2026-06-13T11:03:26Z</dcterms:modified>
  <cp:category/>
</cp:coreProperties>
</file>